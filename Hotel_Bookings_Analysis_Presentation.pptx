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Hotel Bookings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2C39A"/>
                </a:solidFill>
              </a:defRPr>
            </a:pPr>
            <a:r>
              <a:t>Business Insights &amp; 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9696"/>
                </a:solidFill>
              </a:defRPr>
            </a:pPr>
            <a:r>
              <a:t>TravClan Business Analyst Internship | Technical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Key metrics and business performance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2011680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39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39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Total Bookings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280160"/>
            <a:ext cx="2011680" cy="10972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463039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72.2%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20239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Confirmation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1280160"/>
            <a:ext cx="2011680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39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₹25,081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920239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Avg Booking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43200"/>
            <a:ext cx="7863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1E1E"/>
                </a:solidFill>
              </a:defRPr>
            </a:pPr>
            <a:r>
              <a:t>20.2% cancellation rate represents significant revenue leakage of ₹179.7M</a:t>
            </a:r>
          </a:p>
          <a:p>
            <a:pPr>
              <a:spcAft>
                <a:spcPts val="800"/>
              </a:spcAft>
              <a:defRPr sz="1300">
                <a:solidFill>
                  <a:srgbClr val="1E1E1E"/>
                </a:solidFill>
              </a:defRPr>
            </a:pPr>
            <a:r>
              <a:t>Travel Agent channel shows 25% higher cancellation vs Web bookings</a:t>
            </a:r>
          </a:p>
          <a:p>
            <a:pPr>
              <a:spcAft>
                <a:spcPts val="800"/>
              </a:spcAft>
              <a:defRPr sz="1300">
                <a:solidFill>
                  <a:srgbClr val="1E1E1E"/>
                </a:solidFill>
              </a:defRPr>
            </a:pPr>
            <a:r>
              <a:t>Longer lead times (&gt;30 days) correlate with increased cancellation risk</a:t>
            </a:r>
          </a:p>
          <a:p>
            <a:pPr>
              <a:spcAft>
                <a:spcPts val="800"/>
              </a:spcAft>
              <a:defRPr sz="1300">
                <a:solidFill>
                  <a:srgbClr val="1E1E1E"/>
                </a:solidFill>
              </a:defRPr>
            </a:pPr>
            <a:r>
              <a:t>Confirmed bookings generated ₹638.8M in revenue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</a:defRPr>
            </a:pPr>
            <a:r>
              <a:t>Trend #1: Channel Performance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Significant variation in cancellation rates across booking channels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3840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Web: 17.6% cancellation (Best performer)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Mobile App: 21.6% cancellation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Travel Agent: 27.9% cancellation (Highest risk)</a:t>
            </a:r>
          </a:p>
          <a:p/>
          <a:p>
            <a:pPr>
              <a:spcAft>
                <a:spcPts val="600"/>
              </a:spcAft>
              <a:defRPr sz="1300" b="1">
                <a:solidFill>
                  <a:srgbClr val="1E1E1E"/>
                </a:solidFill>
              </a:defRPr>
            </a:pPr>
            <a:r>
              <a:t>Why this matters:</a:t>
            </a:r>
          </a:p>
          <a:p>
            <a:pPr lvl="1">
              <a:spcAft>
                <a:spcPts val="600"/>
              </a:spcAft>
              <a:defRPr sz="1200">
                <a:solidFill>
                  <a:srgbClr val="1E1E1E"/>
                </a:solidFill>
              </a:defRPr>
            </a:pPr>
            <a:r>
              <a:t>• 10% difference between best and worst channels</a:t>
            </a:r>
          </a:p>
          <a:p>
            <a:pPr lvl="1">
              <a:spcAft>
                <a:spcPts val="600"/>
              </a:spcAft>
              <a:defRPr sz="1200">
                <a:solidFill>
                  <a:srgbClr val="1E1E1E"/>
                </a:solidFill>
              </a:defRPr>
            </a:pPr>
            <a:r>
              <a:t>• Agent incentives may not align with completion</a:t>
            </a:r>
          </a:p>
          <a:p>
            <a:pPr lvl="1">
              <a:spcAft>
                <a:spcPts val="600"/>
              </a:spcAft>
              <a:defRPr sz="1200">
                <a:solidFill>
                  <a:srgbClr val="1E1E1E"/>
                </a:solidFill>
              </a:defRPr>
            </a:pPr>
            <a:r>
              <a:t>• Direct channels show better commitment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371600"/>
            <a:ext cx="3749039" cy="3200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371600"/>
            <a:ext cx="73152" cy="3200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554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Action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11680"/>
            <a:ext cx="3200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1. Incentivize Web bookings with 2% extra cashback</a:t>
            </a:r>
          </a:p>
          <a:p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2. Implement agent performance scoring with commission holdback</a:t>
            </a:r>
          </a:p>
          <a:p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3. A/B test deposit requirements by channel</a:t>
            </a:r>
          </a:p>
          <a:p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4. Focus marketing spend on high-performing channels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</a:defRPr>
            </a:pPr>
            <a:r>
              <a:t>Trend #2: Cancellation Behavior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Multiple factors influence cancellation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5603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896"/>
                </a:solidFill>
              </a:defRPr>
            </a:pPr>
            <a:r>
              <a:t>Lead Time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</a:defRPr>
            </a:pPr>
            <a:r>
              <a:t>Cancelled: 30 days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Confirmed: 30 days</a:t>
            </a:r>
          </a:p>
          <a:p>
            <a:pPr>
              <a:defRPr sz="1200">
                <a:solidFill>
                  <a:srgbClr val="1E1E1E"/>
                </a:solidFill>
              </a:defRPr>
            </a:pP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→ -0 day difference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5603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4630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896"/>
                </a:solidFill>
              </a:defRPr>
            </a:pPr>
            <a:r>
              <a:t>Payment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288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Highest: PayPal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(20.8%)</a:t>
            </a:r>
          </a:p>
          <a:p>
            <a:pPr>
              <a:defRPr sz="1100">
                <a:solidFill>
                  <a:srgbClr val="1E1E1E"/>
                </a:solidFill>
              </a:defRPr>
            </a:pP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Lowest: Bank Transfer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(19.2%)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25603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4630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896"/>
                </a:solidFill>
              </a:defRPr>
            </a:pPr>
            <a:r>
              <a:t>Stay Type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288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Business: 20.1%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Leisure: 20.4%</a:t>
            </a:r>
          </a:p>
          <a:p>
            <a:pPr>
              <a:defRPr sz="1100">
                <a:solidFill>
                  <a:srgbClr val="1E1E1E"/>
                </a:solidFill>
              </a:defRPr>
            </a:pP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→ Business travel shows higher flexibility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17520"/>
            <a:ext cx="8046720" cy="1645920"/>
          </a:xfrm>
          <a:prstGeom prst="rect">
            <a:avLst/>
          </a:prstGeom>
          <a:solidFill>
            <a:srgbClr val="F5F5FA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</a:defRPr>
            </a:pPr>
            <a:r>
              <a:t>Root Causes Identified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2044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</a:defRPr>
            </a:pPr>
            <a:r>
              <a:t>• Long booking windows reduce commitment (planning uncertainty)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</a:defRPr>
            </a:pPr>
            <a:r>
              <a:t>• No deposit requirement makes cancellation cost-free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</a:defRPr>
            </a:pPr>
            <a:r>
              <a:t>• Agent incentive structure doesn't penalize cancellations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</a:defRPr>
            </a:pPr>
            <a:r>
              <a:t>• Business travelers have more last-minute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</a:defRPr>
            </a:pPr>
            <a:r>
              <a:t>Trend #3: Untapped Revenue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Significant opportunities in pricing and upselling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3931920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₹179.66M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Revenue Lost to Cancellations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280160"/>
            <a:ext cx="3749039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41732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₹53.90M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82880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Recoverable with 30% Reduction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80467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090"/>
                </a:solidFill>
              </a:defRPr>
            </a:pPr>
            <a:r>
              <a:t>Key Revenue Optimization Opportunities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00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E1E1E"/>
                </a:solidFill>
              </a:defRPr>
            </a:pPr>
            <a:r>
              <a:t>1. Room Upgrades: 2483 potential conversions @ ₹3,000 = ₹7.45M</a:t>
            </a:r>
          </a:p>
          <a:p>
            <a:pPr>
              <a:spcAft>
                <a:spcPts val="1000"/>
              </a:spcAft>
              <a:defRPr sz="1200">
                <a:solidFill>
                  <a:srgbClr val="1E1E1E"/>
                </a:solidFill>
              </a:defRPr>
            </a:pPr>
            <a:r>
              <a:t>2. Dynamic Pricing: Implement surge pricing for peak days/cities (est. +5% revenue)</a:t>
            </a:r>
          </a:p>
          <a:p>
            <a:pPr>
              <a:spcAft>
                <a:spcPts val="1000"/>
              </a:spcAft>
              <a:defRPr sz="1200">
                <a:solidFill>
                  <a:srgbClr val="1E1E1E"/>
                </a:solidFill>
              </a:defRPr>
            </a:pPr>
            <a:r>
              <a:t>3. Loyalty Program: Convert 25% to repeat customers (lower acquisition costs)</a:t>
            </a:r>
          </a:p>
          <a:p>
            <a:pPr>
              <a:spcAft>
                <a:spcPts val="1000"/>
              </a:spcAft>
              <a:defRPr sz="1200">
                <a:solidFill>
                  <a:srgbClr val="1E1E1E"/>
                </a:solidFill>
              </a:defRPr>
            </a:pPr>
            <a:r>
              <a:t>4. Premium Membership: TravClan Elite at ₹999/year (targeting high-value segment)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</a:defRPr>
            </a:pPr>
            <a: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Three-pillar approach to maximize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65176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73152" cy="3383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090"/>
                </a:solidFill>
              </a:defRPr>
            </a:pPr>
            <a:r>
              <a:t>Priority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1E"/>
                </a:solidFill>
              </a:defRPr>
            </a:pPr>
            <a:r>
              <a:t>Reduce Cancellations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Target: -30%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1E1E"/>
                </a:solidFill>
              </a:defRPr>
            </a:pPr>
            <a:r>
              <a:t>• Graduated deposit structure by lead time</a:t>
            </a:r>
          </a:p>
          <a:p>
            <a:pPr>
              <a:spcAft>
                <a:spcPts val="800"/>
              </a:spcAft>
              <a:defRPr sz="1100">
                <a:solidFill>
                  <a:srgbClr val="1E1E1E"/>
                </a:solidFill>
              </a:defRPr>
            </a:pPr>
            <a:r>
              <a:t>• Payment incentives for low-risk methods</a:t>
            </a:r>
          </a:p>
          <a:p>
            <a:pPr>
              <a:spcAft>
                <a:spcPts val="800"/>
              </a:spcAft>
              <a:defRPr sz="1100">
                <a:solidFill>
                  <a:srgbClr val="1E1E1E"/>
                </a:solidFill>
              </a:defRPr>
            </a:pPr>
            <a:r>
              <a:t>• Agent performance tracking</a:t>
            </a:r>
          </a:p>
          <a:p>
            <a:pPr>
              <a:spcAft>
                <a:spcPts val="800"/>
              </a:spcAft>
              <a:defRPr sz="1100">
                <a:solidFill>
                  <a:srgbClr val="1E1E1E"/>
                </a:solidFill>
              </a:defRPr>
            </a:pPr>
            <a:r>
              <a:t>• Flexible rebooking options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280160"/>
            <a:ext cx="265176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280160"/>
            <a:ext cx="73152" cy="33832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417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896"/>
                </a:solidFill>
              </a:defRPr>
            </a:pPr>
            <a:r>
              <a:t>Priority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6916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1E"/>
                </a:solidFill>
              </a:defRPr>
            </a:pPr>
            <a:r>
              <a:t>Boost Profitability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1031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Target: +15%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51460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1E1E"/>
                </a:solidFill>
              </a:defRPr>
            </a:pPr>
            <a:r>
              <a:t>• Dynamic pricing by demand</a:t>
            </a:r>
          </a:p>
          <a:p>
            <a:pPr>
              <a:spcAft>
                <a:spcPts val="800"/>
              </a:spcAft>
              <a:defRPr sz="1100">
                <a:solidFill>
                  <a:srgbClr val="1E1E1E"/>
                </a:solidFill>
              </a:defRPr>
            </a:pPr>
            <a:r>
              <a:t>• Room upgrade campaigns</a:t>
            </a:r>
          </a:p>
          <a:p>
            <a:pPr>
              <a:spcAft>
                <a:spcPts val="800"/>
              </a:spcAft>
              <a:defRPr sz="1100">
                <a:solidFill>
                  <a:srgbClr val="1E1E1E"/>
                </a:solidFill>
              </a:defRPr>
            </a:pPr>
            <a:r>
              <a:t>• Add-on service marketplace</a:t>
            </a:r>
          </a:p>
          <a:p>
            <a:pPr>
              <a:spcAft>
                <a:spcPts val="800"/>
              </a:spcAft>
              <a:defRPr sz="1100">
                <a:solidFill>
                  <a:srgbClr val="1E1E1E"/>
                </a:solidFill>
              </a:defRPr>
            </a:pPr>
            <a:r>
              <a:t>• Premium tier membership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280160"/>
            <a:ext cx="265176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1280160"/>
            <a:ext cx="73152" cy="3383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417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C39A"/>
                </a:solidFill>
              </a:defRPr>
            </a:pPr>
            <a:r>
              <a:t>Priority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6916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1E"/>
                </a:solidFill>
              </a:defRPr>
            </a:pPr>
            <a:r>
              <a:t>Drive Retention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1031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Target: +25% repeats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51460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1E1E"/>
                </a:solidFill>
              </a:defRPr>
            </a:pPr>
            <a:r>
              <a:t>• Points-based loyalty program</a:t>
            </a:r>
          </a:p>
          <a:p>
            <a:pPr>
              <a:spcAft>
                <a:spcPts val="800"/>
              </a:spcAft>
              <a:defRPr sz="1100">
                <a:solidFill>
                  <a:srgbClr val="1E1E1E"/>
                </a:solidFill>
              </a:defRPr>
            </a:pPr>
            <a:r>
              <a:t>• Post-stay engagement emails</a:t>
            </a:r>
          </a:p>
          <a:p>
            <a:pPr>
              <a:spcAft>
                <a:spcPts val="800"/>
              </a:spcAft>
              <a:defRPr sz="1100">
                <a:solidFill>
                  <a:srgbClr val="1E1E1E"/>
                </a:solidFill>
              </a:defRPr>
            </a:pPr>
            <a:r>
              <a:t>• Referral incentives (₹500/₹500)</a:t>
            </a:r>
          </a:p>
          <a:p>
            <a:pPr>
              <a:spcAft>
                <a:spcPts val="800"/>
              </a:spcAft>
              <a:defRPr sz="1100">
                <a:solidFill>
                  <a:srgbClr val="1E1E1E"/>
                </a:solidFill>
              </a:defRPr>
            </a:pPr>
            <a:r>
              <a:t>• Birthday &amp; anniversary offers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</a:defRPr>
            </a:pPr>
            <a:r>
              <a:t>90-Day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Phased rollout for maximum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37744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237744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544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090"/>
                </a:solidFill>
              </a:defRPr>
            </a:pPr>
            <a:r>
              <a:t>Phase 1: Quick 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288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Days 1-30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E1E1E"/>
                </a:solidFill>
              </a:defRPr>
            </a:pPr>
            <a:r>
              <a:t>• Deposit policy launch</a:t>
            </a:r>
          </a:p>
          <a:p>
            <a:pPr>
              <a:spcAft>
                <a:spcPts val="600"/>
              </a:spcAft>
              <a:defRPr sz="1000">
                <a:solidFill>
                  <a:srgbClr val="1E1E1E"/>
                </a:solidFill>
              </a:defRPr>
            </a:pPr>
            <a:r>
              <a:t>• Payment incentives</a:t>
            </a:r>
          </a:p>
          <a:p>
            <a:pPr>
              <a:spcAft>
                <a:spcPts val="600"/>
              </a:spcAft>
              <a:defRPr sz="1000">
                <a:solidFill>
                  <a:srgbClr val="1E1E1E"/>
                </a:solidFill>
              </a:defRPr>
            </a:pPr>
            <a:r>
              <a:t>• Email campaigns 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371600"/>
            <a:ext cx="237744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371600"/>
            <a:ext cx="2377440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5544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A896"/>
                </a:solidFill>
              </a:defRPr>
            </a:pPr>
            <a:r>
              <a:t>Phase 2: Core Programs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8288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Days 31-60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E1E1E"/>
                </a:solidFill>
              </a:defRPr>
            </a:pPr>
            <a:r>
              <a:t>• Loyalty program launch</a:t>
            </a:r>
          </a:p>
          <a:p>
            <a:pPr>
              <a:spcAft>
                <a:spcPts val="600"/>
              </a:spcAft>
              <a:defRPr sz="1000">
                <a:solidFill>
                  <a:srgbClr val="1E1E1E"/>
                </a:solidFill>
              </a:defRPr>
            </a:pPr>
            <a:r>
              <a:t>• Dynamic pricing rollout</a:t>
            </a:r>
          </a:p>
          <a:p>
            <a:pPr>
              <a:spcAft>
                <a:spcPts val="600"/>
              </a:spcAft>
              <a:defRPr sz="1000">
                <a:solidFill>
                  <a:srgbClr val="1E1E1E"/>
                </a:solidFill>
              </a:defRPr>
            </a:pPr>
            <a:r>
              <a:t>• Agent performance tracking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371600"/>
            <a:ext cx="237744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1371600"/>
            <a:ext cx="23774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5544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C39A"/>
                </a:solidFill>
              </a:defRPr>
            </a:pPr>
            <a:r>
              <a:t>Phase 3: Advanced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8288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Days 61-90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1945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E1E1E"/>
                </a:solidFill>
              </a:defRPr>
            </a:pPr>
            <a:r>
              <a:t>• Upselling engine</a:t>
            </a:r>
          </a:p>
          <a:p>
            <a:pPr>
              <a:spcAft>
                <a:spcPts val="600"/>
              </a:spcAft>
              <a:defRPr sz="1000">
                <a:solidFill>
                  <a:srgbClr val="1E1E1E"/>
                </a:solidFill>
              </a:defRPr>
            </a:pPr>
            <a:r>
              <a:t>• Premium membership</a:t>
            </a:r>
          </a:p>
          <a:p>
            <a:pPr>
              <a:spcAft>
                <a:spcPts val="600"/>
              </a:spcAft>
              <a:defRPr sz="1000">
                <a:solidFill>
                  <a:srgbClr val="1E1E1E"/>
                </a:solidFill>
              </a:defRPr>
            </a:pPr>
            <a:r>
              <a:t>• Referral program launch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57600"/>
            <a:ext cx="8046720" cy="868680"/>
          </a:xfrm>
          <a:prstGeom prst="rect">
            <a:avLst/>
          </a:prstGeom>
          <a:solidFill>
            <a:srgbClr val="F5F5FA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749039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</a:defRPr>
            </a:pPr>
            <a:r>
              <a:t>Success Metrics to Track Weekly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23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Cancellation Rate • Average Booking Value • Repeat Booking Rate • Revenue per Booking • Customer Satisfaction (&gt;4.5/5)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Projected 6-Month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2C39A"/>
                </a:solidFill>
              </a:defRPr>
            </a:pPr>
            <a:r>
              <a:t>Cancellation Reduction (30%)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4630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₹53.9M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945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2C39A"/>
                </a:solidFill>
              </a:defRPr>
            </a:pPr>
            <a:r>
              <a:t>Profitability Improvements (15%)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₹95.8M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9260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02C39A"/>
                </a:solidFill>
              </a:defRPr>
            </a:pPr>
            <a:r>
              <a:t>Repeat Bookings Increase (12.5%)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9260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₹79.8M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749039"/>
            <a:ext cx="5486400" cy="7315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3886200"/>
            <a:ext cx="5120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61"/>
                </a:solidFill>
              </a:defRPr>
            </a:pPr>
            <a:r>
              <a:t>TOTAL PROJECTED REVENUE INCREASE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1148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₹229.6M (+35.9%)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2C39A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Prepared for: TravClan Business Analyst Internship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